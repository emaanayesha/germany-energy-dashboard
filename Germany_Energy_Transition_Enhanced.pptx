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38BDF8"/>
            </a:solidFill>
            <a:ln w="3175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1338</c:v>
                </c:pt>
                <c:pt idx="1">
                  <c:v>1320</c:v>
                </c:pt>
                <c:pt idx="2">
                  <c:v>1315</c:v>
                </c:pt>
                <c:pt idx="3">
                  <c:v>1280</c:v>
                </c:pt>
                <c:pt idx="4">
                  <c:v>1340</c:v>
                </c:pt>
                <c:pt idx="5">
                  <c:v>1290</c:v>
                </c:pt>
                <c:pt idx="6">
                  <c:v>1270</c:v>
                </c:pt>
                <c:pt idx="7">
                  <c:v>1260</c:v>
                </c:pt>
                <c:pt idx="8">
                  <c:v>1250</c:v>
                </c:pt>
                <c:pt idx="9">
                  <c:v>1245</c:v>
                </c:pt>
                <c:pt idx="10">
                  <c:v>1240</c:v>
                </c:pt>
                <c:pt idx="11">
                  <c:v>1250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4ADE80"/>
            </a:solidFill>
            <a:ln w="31750" cap="flat">
              <a:solidFill>
                <a:srgbClr val="4ADE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DE80"/>
              </a:solidFill>
              <a:ln w="9525" cap="flat">
                <a:solidFill>
                  <a:srgbClr val="4ADE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105</c:v>
                </c:pt>
                <c:pt idx="4">
                  <c:v>120</c:v>
                </c:pt>
                <c:pt idx="5">
                  <c:v>130</c:v>
                </c:pt>
                <c:pt idx="6">
                  <c:v>145</c:v>
                </c:pt>
                <c:pt idx="7">
                  <c:v>155</c:v>
                </c:pt>
                <c:pt idx="8">
                  <c:v>160</c:v>
                </c:pt>
                <c:pt idx="9">
                  <c:v>168</c:v>
                </c:pt>
                <c:pt idx="10">
                  <c:v>172</c:v>
                </c:pt>
                <c:pt idx="11">
                  <c:v>180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FB923C"/>
            </a:solidFill>
            <a:ln w="31750" cap="flat">
              <a:solidFill>
                <a:srgbClr val="FB92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B923C"/>
              </a:solidFill>
              <a:ln w="9525" cap="flat">
                <a:solidFill>
                  <a:srgbClr val="FB92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  <c:pt idx="4">
                  <c:v>20</c:v>
                </c:pt>
                <c:pt idx="5">
                  <c:v>35</c:v>
                </c:pt>
                <c:pt idx="6">
                  <c:v>50</c:v>
                </c:pt>
                <c:pt idx="7">
                  <c:v>65</c:v>
                </c:pt>
                <c:pt idx="8">
                  <c:v>72</c:v>
                </c:pt>
                <c:pt idx="9">
                  <c:v>80</c:v>
                </c:pt>
                <c:pt idx="10">
                  <c:v>85</c:v>
                </c:pt>
                <c:pt idx="11">
                  <c:v>90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Wind+Solar</c:v>
                </c:pt>
              </c:strCache>
            </c:strRef>
          </c:tx>
          <c:spPr>
            <a:solidFill>
              <a:srgbClr val="A78BFA"/>
            </a:solidFill>
            <a:ln w="31750" cap="flat">
              <a:solidFill>
                <a:srgbClr val="A78B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92</c:v>
                </c:pt>
                <c:pt idx="1">
                  <c:v>99</c:v>
                </c:pt>
                <c:pt idx="2">
                  <c:v>106</c:v>
                </c:pt>
                <c:pt idx="3">
                  <c:v>117</c:v>
                </c:pt>
                <c:pt idx="4">
                  <c:v>140</c:v>
                </c:pt>
                <c:pt idx="5">
                  <c:v>165</c:v>
                </c:pt>
                <c:pt idx="6">
                  <c:v>195</c:v>
                </c:pt>
                <c:pt idx="7">
                  <c:v>220</c:v>
                </c:pt>
                <c:pt idx="8">
                  <c:v>232</c:v>
                </c:pt>
                <c:pt idx="9">
                  <c:v>248</c:v>
                </c:pt>
                <c:pt idx="10">
                  <c:v>257</c:v>
                </c:pt>
                <c:pt idx="11">
                  <c:v>270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9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31C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1450</c:v>
                </c:pt>
                <c:pt idx="1">
                  <c:v>1400</c:v>
                </c:pt>
                <c:pt idx="2">
                  <c:v>1360</c:v>
                </c:pt>
                <c:pt idx="3">
                  <c:v>1280</c:v>
                </c:pt>
                <c:pt idx="4">
                  <c:v>1220</c:v>
                </c:pt>
                <c:pt idx="5">
                  <c:v>1170</c:v>
                </c:pt>
                <c:pt idx="6">
                  <c:v>1150</c:v>
                </c:pt>
                <c:pt idx="7">
                  <c:v>1180</c:v>
                </c:pt>
                <c:pt idx="8">
                  <c:v>1240</c:v>
                </c:pt>
                <c:pt idx="9">
                  <c:v>1310</c:v>
                </c:pt>
                <c:pt idx="10">
                  <c:v>1390</c:v>
                </c:pt>
                <c:pt idx="11">
                  <c:v>1430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230</c:v>
                </c:pt>
                <c:pt idx="1">
                  <c:v>210</c:v>
                </c:pt>
                <c:pt idx="2">
                  <c:v>185</c:v>
                </c:pt>
                <c:pt idx="3">
                  <c:v>160</c:v>
                </c:pt>
                <c:pt idx="4">
                  <c:v>140</c:v>
                </c:pt>
                <c:pt idx="5">
                  <c:v>125</c:v>
                </c:pt>
                <c:pt idx="6">
                  <c:v>120</c:v>
                </c:pt>
                <c:pt idx="7">
                  <c:v>130</c:v>
                </c:pt>
                <c:pt idx="8">
                  <c:v>155</c:v>
                </c:pt>
                <c:pt idx="9">
                  <c:v>185</c:v>
                </c:pt>
                <c:pt idx="10">
                  <c:v>215</c:v>
                </c:pt>
                <c:pt idx="11">
                  <c:v>240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</c:v>
                </c:pt>
                <c:pt idx="1">
                  <c:v>20</c:v>
                </c:pt>
                <c:pt idx="2">
                  <c:v>45</c:v>
                </c:pt>
                <c:pt idx="3">
                  <c:v>75</c:v>
                </c:pt>
                <c:pt idx="4">
                  <c:v>105</c:v>
                </c:pt>
                <c:pt idx="5">
                  <c:v>120</c:v>
                </c:pt>
                <c:pt idx="6">
                  <c:v>115</c:v>
                </c:pt>
                <c:pt idx="7">
                  <c:v>100</c:v>
                </c:pt>
                <c:pt idx="8">
                  <c:v>65</c:v>
                </c:pt>
                <c:pt idx="9">
                  <c:v>35</c:v>
                </c:pt>
                <c:pt idx="10">
                  <c:v>12</c:v>
                </c:pt>
                <c:pt idx="1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31C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  <c:pt idx="4">
                  <c:v>20</c:v>
                </c:pt>
                <c:pt idx="5">
                  <c:v>35</c:v>
                </c:pt>
                <c:pt idx="6">
                  <c:v>50</c:v>
                </c:pt>
                <c:pt idx="7">
                  <c:v>65</c:v>
                </c:pt>
                <c:pt idx="8">
                  <c:v>72</c:v>
                </c:pt>
                <c:pt idx="9">
                  <c:v>80</c:v>
                </c:pt>
                <c:pt idx="10">
                  <c:v>85</c:v>
                </c:pt>
                <c:pt idx="11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105</c:v>
                </c:pt>
                <c:pt idx="4">
                  <c:v>120</c:v>
                </c:pt>
                <c:pt idx="5">
                  <c:v>130</c:v>
                </c:pt>
                <c:pt idx="6">
                  <c:v>145</c:v>
                </c:pt>
                <c:pt idx="7">
                  <c:v>155</c:v>
                </c:pt>
                <c:pt idx="8">
                  <c:v>160</c:v>
                </c:pt>
                <c:pt idx="9">
                  <c:v>168</c:v>
                </c:pt>
                <c:pt idx="10">
                  <c:v>172</c:v>
                </c:pt>
                <c:pt idx="11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31C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DE80"/>
              </a:solidFill>
              <a:effectLst/>
            </c:spPr>
          </c:dPt>
          <c:dPt>
            <c:idx val="1"/>
            <c:bubble3D val="0"/>
            <c:spPr>
              <a:solidFill>
                <a:srgbClr val="FB92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Wind</c:v>
                </c:pt>
                <c:pt idx="1">
                  <c:v>Solar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164.8</c:v>
                </c:pt>
                <c:pt idx="1">
                  <c:v>89.3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31C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3.xml"/><Relationship Id="rId8" Type="http://schemas.openxmlformats.org/officeDocument/2006/relationships/chart" Target="/ppt/charts/chart4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0"/>
            <a:ext cx="54864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389888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Visualizing Germany's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Transition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0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Energiewende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127248"/>
            <a:ext cx="1645920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461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Emaan Ayesha Bin Te Anwer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66674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DS-018 / 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640080" cy="64008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09728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2240280"/>
            <a:ext cx="640080" cy="64008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331720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035040" y="3474720"/>
            <a:ext cx="640080" cy="64008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3566160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4617720"/>
            <a:ext cx="2377440" cy="30175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57200" y="461772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OPSD  •  2006–2017  •  4,383 records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040">
              <a:alpha val="40000"/>
            </a:srgbClr>
          </a:solidFill>
          <a:ln w="12700">
            <a:solidFill>
              <a:srgbClr val="16204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Germany's Energiewende — a national commitment to renewable energy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141732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36576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521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11556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Policy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1389888"/>
            <a:ext cx="202996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"Energiewende" — a landmark policy to transition Germany away from nuclear and fossil fuels toward renewables.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987552"/>
            <a:ext cx="2743200" cy="141732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987552"/>
            <a:ext cx="36576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1521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111556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Investment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22192" y="1389888"/>
            <a:ext cx="202996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public &amp; private capital deployed into wind and solar infrastructure from 2006 through 2017.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987552"/>
            <a:ext cx="2743200" cy="141732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987552"/>
            <a:ext cx="36576" cy="1417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1521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111556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Question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48272" y="1389888"/>
            <a:ext cx="202996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renewables grow fast enough to measurably shift Germany's energy mix over this 12-year period?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606040"/>
            <a:ext cx="8595360" cy="3657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10312" y="2583180"/>
            <a:ext cx="12801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0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-320040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Feed-in tariff expanded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1929384" y="2583180"/>
            <a:ext cx="12801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719072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399032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boom begins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648456" y="2583180"/>
            <a:ext cx="12801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438144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118104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phase-out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367528" y="2583180"/>
            <a:ext cx="12801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157216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837176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peaks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086600" y="2583180"/>
            <a:ext cx="12801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76288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556248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at record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805672" y="2583180"/>
            <a:ext cx="12801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595360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275320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end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274320" y="3401568"/>
            <a:ext cx="8595360" cy="148132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22960" y="354787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41" name="Text 36"/>
          <p:cNvSpPr/>
          <p:nvPr/>
        </p:nvSpPr>
        <p:spPr>
          <a:xfrm>
            <a:off x="822960" y="41696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822960" y="43525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data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2926080" y="354787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4,383</a:t>
            </a:r>
            <a:endParaRPr lang="en-US" sz="3600" dirty="0"/>
          </a:p>
        </p:txBody>
      </p:sp>
      <p:sp>
        <p:nvSpPr>
          <p:cNvPr id="44" name="Text 39"/>
          <p:cNvSpPr/>
          <p:nvPr/>
        </p:nvSpPr>
        <p:spPr>
          <a:xfrm>
            <a:off x="2926080" y="41696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2926080" y="43525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rows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5029200" y="354787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47" name="Text 42"/>
          <p:cNvSpPr/>
          <p:nvPr/>
        </p:nvSpPr>
        <p:spPr>
          <a:xfrm>
            <a:off x="5029200" y="41696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5029200" y="43525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columns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7132320" y="354787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3×+</a:t>
            </a:r>
            <a:endParaRPr lang="en-US" sz="3600" dirty="0"/>
          </a:p>
        </p:txBody>
      </p:sp>
      <p:sp>
        <p:nvSpPr>
          <p:cNvPr id="50" name="Text 45"/>
          <p:cNvSpPr/>
          <p:nvPr/>
        </p:nvSpPr>
        <p:spPr>
          <a:xfrm>
            <a:off x="7132320" y="41696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7132320" y="43525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Wind+Solar share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data alone isn't enough for energy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24128"/>
            <a:ext cx="265176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15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4,383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1463040" y="1920240"/>
            <a:ext cx="731520" cy="73152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029968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" y="27889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Overload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127248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rows — far too large to interpret in a spreadsheet without tooling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024128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024128"/>
            <a:ext cx="265176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1115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200" dirty="0"/>
          </a:p>
        </p:txBody>
      </p:sp>
      <p:sp>
        <p:nvSpPr>
          <p:cNvPr id="16" name="Shape 13"/>
          <p:cNvSpPr/>
          <p:nvPr/>
        </p:nvSpPr>
        <p:spPr>
          <a:xfrm>
            <a:off x="4297680" y="1920240"/>
            <a:ext cx="731520" cy="73152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029968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47288" y="27889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Series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74720" y="3127248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Wind, Solar, Wind+Solar — must be compared in context, side-by-side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2200" y="1024128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72200" y="1024128"/>
            <a:ext cx="265176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09360" y="1115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5200" dirty="0"/>
          </a:p>
        </p:txBody>
      </p:sp>
      <p:sp>
        <p:nvSpPr>
          <p:cNvPr id="23" name="Shape 19"/>
          <p:cNvSpPr/>
          <p:nvPr/>
        </p:nvSpPr>
        <p:spPr>
          <a:xfrm>
            <a:off x="7132320" y="1920240"/>
            <a:ext cx="731520" cy="73152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202996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81928" y="27889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Audiences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09360" y="3127248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Policymakers, researchers, journalists — each needs a tailored analytical 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040">
              <a:alpha val="40000"/>
            </a:srgbClr>
          </a:solidFill>
          <a:ln w="12700">
            <a:solidFill>
              <a:srgbClr val="16204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was built to achieve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130759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6636" y="1828800"/>
            <a:ext cx="18288" cy="105156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078992"/>
            <a:ext cx="7863840" cy="109728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078992"/>
            <a:ext cx="36576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2646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18872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12 Years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45920" y="151790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resolution data from 2006–2017 with a flexible date-range slider for precise filtering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608" y="2542032"/>
            <a:ext cx="502920" cy="5029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6636" y="3063240"/>
            <a:ext cx="18288" cy="105156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" y="2313432"/>
            <a:ext cx="7863840" cy="109728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120" y="2313432"/>
            <a:ext cx="36576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60904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45920" y="24231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 Trends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645920" y="275234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&amp; solar growth trajectories, seasonal cycles (winter wind / summer solar), and long-term change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92608" y="3776472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92608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60120" y="3547872"/>
            <a:ext cx="7863840" cy="109728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60120" y="3547872"/>
            <a:ext cx="36576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95344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45920" y="36576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 to All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64592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required. Light &amp; dark themes. Instant responsive charts deployable as a single Python file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System Data — Germany daily energy records 2006–2017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539496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day (2006-01-01 → 2017-12-31)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(GWh)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daily national electricity consumption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(GWh)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wind energy generated (onshore + offshore)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(GWh)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solar photovoltaic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Wind+Solar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(GWh)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renewable output (Wind + Solar)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960120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72200" y="960120"/>
            <a:ext cx="36576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91072" y="99669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91072" y="1207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0" y="99669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open-power-system-data.org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72200" y="16184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1618488"/>
            <a:ext cx="36576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165506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91072" y="1865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0" y="165506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Republic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72200" y="227685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2276856"/>
            <a:ext cx="36576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3134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91072" y="2523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2006–2017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32320" y="231343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of daily data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72200" y="2935224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72200" y="2935224"/>
            <a:ext cx="36576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29718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91072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4,383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32320" y="297180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rows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3611880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36758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SERIES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291072" y="39502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46520" y="39136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291072" y="4197096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46520" y="41605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91072" y="444398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44074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91072" y="4690872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46520" y="465429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Wind+Solar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040">
              <a:alpha val="40000"/>
            </a:srgbClr>
          </a:solidFill>
          <a:ln w="12700">
            <a:solidFill>
              <a:srgbClr val="16204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— The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analytical layers built with Python + Plotly Dash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146304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690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7899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0424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 —  KPIs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78992" y="1371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&amp; peak values for Consumption, Wind, Solar displayed as glowing stat cards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960120"/>
            <a:ext cx="4069080" cy="146304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960120"/>
            <a:ext cx="40690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82312" y="1078992"/>
            <a:ext cx="502920" cy="5029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10424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 —  Time Series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22392" y="1371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area/line chart with zoom &amp; pan across the full 12-year range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578608"/>
            <a:ext cx="2724912" cy="228600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578608"/>
            <a:ext cx="2724912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280160" y="2715768"/>
            <a:ext cx="685800" cy="6858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0720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1480" y="34472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11480" y="36850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11480" y="40050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&amp; monthly breakdowns reveal growth patterns and seasonal cycles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182112" y="2578608"/>
            <a:ext cx="2724912" cy="228600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182112" y="2578608"/>
            <a:ext cx="2724912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87952" y="2715768"/>
            <a:ext cx="685800" cy="6858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807208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319272" y="34472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319272" y="36850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3319272" y="40050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histograms, and seasonal slices for detailed consumption analysis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089904" y="2578608"/>
            <a:ext cx="2724912" cy="228600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089904" y="2578608"/>
            <a:ext cx="272491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095744" y="2715768"/>
            <a:ext cx="685800" cy="6858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807208"/>
            <a:ext cx="502920" cy="5029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227064" y="34472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227064" y="36850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Renewables Story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6227064" y="40050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 + donut charts showing the growing share of renewables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Germany's energy transition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3977640" cy="502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152144"/>
            <a:ext cx="566928" cy="5669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24358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115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Surge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1408176"/>
            <a:ext cx="1554480" cy="21945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140817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→ Major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90088" y="140817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→ 2012–13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7512" y="1700784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Feed-in tariff policy drove explosive solar growth, turning it from negligible to a significant energy source.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987552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987552"/>
            <a:ext cx="3977640" cy="502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19472" y="1152144"/>
            <a:ext cx="566928" cy="5669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243584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1115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 Seasonality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623560" y="1408176"/>
            <a:ext cx="1554480" cy="21945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23560" y="140817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Peaks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242048" y="140817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919472" y="1700784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output consistently higher in winter months, creating a reliable seasonal pattern across all 12 years.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" y="3072384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3072384"/>
            <a:ext cx="397764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67512" y="3236976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328416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71600" y="320040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Consumption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1371600" y="3493008"/>
            <a:ext cx="1554480" cy="21945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371600" y="34930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Displaced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2990088" y="349300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increased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67512" y="3785616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consumption remained flat — renewables replaced conventional fossil sources rather than adding new load.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754880" y="3072384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754880" y="3072384"/>
            <a:ext cx="397764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919472" y="3236976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328416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623560" y="320040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Growth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5623560" y="3493008"/>
            <a:ext cx="1554480" cy="219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623560" y="34930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&gt;3× Increase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7242048" y="349300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→ 2017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4919472" y="3785616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Wind+Solar combined share more than tripled — a clear, measurable victory for Energiewende policy.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040">
              <a:alpha val="40000"/>
            </a:srgbClr>
          </a:solidFill>
          <a:ln w="12700">
            <a:solidFill>
              <a:srgbClr val="16204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— Time Series (2006–2017)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energy output area chart: Consumption, Wind, Solar, Wind+Solar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38328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005840"/>
          <a:ext cx="8503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34840"/>
            <a:ext cx="2468880" cy="438912"/>
          </a:xfrm>
          <a:prstGeom prst="rect">
            <a:avLst/>
          </a:prstGeom>
          <a:solidFill>
            <a:srgbClr val="131C3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434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growing steadily 2006+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0" y="4434840"/>
            <a:ext cx="2286000" cy="438912"/>
          </a:xfrm>
          <a:prstGeom prst="rect">
            <a:avLst/>
          </a:prstGeom>
          <a:solidFill>
            <a:srgbClr val="131C3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44348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surge 2010-2013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040">
              <a:alpha val="40000"/>
            </a:srgbClr>
          </a:solidFill>
          <a:ln w="12700">
            <a:solidFill>
              <a:srgbClr val="16204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— Seasonal Patterns &amp; Heatmap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peaks in winter; solar peaks in summer — a predictable annual rhythm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60120" cy="320040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9601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868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wind / Low solar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53312" y="960120"/>
            <a:ext cx="960120" cy="320040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960120"/>
            <a:ext cx="9601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10972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53312" y="1664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99032" y="1965960"/>
            <a:ext cx="868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declining / Solar rising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32304" y="960120"/>
            <a:ext cx="960120" cy="320040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32304" y="960120"/>
            <a:ext cx="96012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0972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432304" y="1664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78024" y="1965960"/>
            <a:ext cx="868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wind / Peak solar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11296" y="960120"/>
            <a:ext cx="960120" cy="320040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11296" y="960120"/>
            <a:ext cx="9601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1296" y="10972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511296" y="1664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Autumn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57016" y="1965960"/>
            <a:ext cx="868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returning / Solar fading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206240" cy="321868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Heatmap (Year × Month)</a:t>
            </a:r>
            <a:endParaRPr lang="en-US" sz="10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663440" y="1298448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shows seasonal peaks: wind in winter, solar in summer; use heatmap for daily intensity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Choices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decisions that make the dashboard practical and accessible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36576" cy="8961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70432"/>
            <a:ext cx="502920" cy="50292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71016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107899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+ Dash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07008" y="1353312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prototyping; reactive callbacks; deployable with minimal web skills using a single Python file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1975104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1975104"/>
            <a:ext cx="36576" cy="8961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157984"/>
            <a:ext cx="502920" cy="50292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258568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206654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Charts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207008" y="2340864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pan, hover details — Plotly enables full exploratory analysis without any coding by the end user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" y="2962656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2962656"/>
            <a:ext cx="36576" cy="8961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3145536"/>
            <a:ext cx="502920" cy="50292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246120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305409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Year-Range Slider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207008" y="3328416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instantly filter any date range; all charts update simultaneously with smooth animated transitions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02920" y="3950208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02920" y="3950208"/>
            <a:ext cx="36576" cy="8961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94360" y="4133088"/>
            <a:ext cx="502920" cy="50292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233672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07008" y="404164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/ Dark Themes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207008" y="4315968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supports toggling between themes, making it usable for both reports and live presentations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166360" y="987552"/>
            <a:ext cx="3657600" cy="3931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25780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321808" y="1481328"/>
            <a:ext cx="3337560" cy="512064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321808" y="1481328"/>
            <a:ext cx="36576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40680" y="15361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440680" y="175564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321808" y="2103120"/>
            <a:ext cx="3337560" cy="512064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321808" y="2103120"/>
            <a:ext cx="36576" cy="5120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440680" y="21579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440680" y="23774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web framework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321808" y="2724912"/>
            <a:ext cx="3337560" cy="512064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321808" y="2724912"/>
            <a:ext cx="36576" cy="5120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440680" y="277977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Go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5440680" y="299923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 library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321808" y="3346704"/>
            <a:ext cx="3337560" cy="512064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321808" y="3346704"/>
            <a:ext cx="36576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440680" y="34015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440680" y="362102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5321808" y="3968496"/>
            <a:ext cx="3337560" cy="512064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5321808" y="3968496"/>
            <a:ext cx="36576" cy="5120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440680" y="40233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OPSD CSV Dataset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5440680" y="424281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4,383 daily records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040">
              <a:alpha val="40000"/>
            </a:srgbClr>
          </a:solidFill>
          <a:ln w="12700">
            <a:solidFill>
              <a:srgbClr val="16204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panels from the live interactive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389888" cy="138988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389888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417320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Consumption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47472" y="1618488"/>
            <a:ext cx="124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1,338.7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47472" y="2002536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GWh / day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737360" y="960120"/>
            <a:ext cx="1389888" cy="138988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737360" y="960120"/>
            <a:ext cx="1389888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10512" y="1417320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Consumption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1810512" y="1618488"/>
            <a:ext cx="124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1,709.6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810512" y="2002536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GWh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200400" y="960120"/>
            <a:ext cx="1389888" cy="138988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960120"/>
            <a:ext cx="1389888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972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73552" y="1417320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Wind Output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273552" y="1618488"/>
            <a:ext cx="124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164.8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3273552" y="2002536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GWh / day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663440" y="960120"/>
            <a:ext cx="1389888" cy="138988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960120"/>
            <a:ext cx="1389888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972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36592" y="1417320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 Output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4736592" y="1618488"/>
            <a:ext cx="124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826.3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4736592" y="2002536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GWh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6126480" y="960120"/>
            <a:ext cx="1389888" cy="138988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126480" y="960120"/>
            <a:ext cx="1389888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9728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99632" y="1417320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Solar Output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6199632" y="1618488"/>
            <a:ext cx="124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89.3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6199632" y="2002536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GWh / day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7589520" y="960120"/>
            <a:ext cx="1389888" cy="1389888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589520" y="960120"/>
            <a:ext cx="1389888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09728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62672" y="1417320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Solar Output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7662672" y="1618488"/>
            <a:ext cx="124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241.6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7662672" y="2002536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GWh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274320" y="2487168"/>
            <a:ext cx="5303520" cy="237744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11480" y="2542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Growth (Stacked Area)</a:t>
            </a:r>
            <a:endParaRPr lang="en-US" sz="10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274320" y="2788920"/>
          <a:ext cx="53035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5806440" y="2487168"/>
            <a:ext cx="3063240" cy="2377440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5943600" y="25420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vs Solar Split</a:t>
            </a:r>
            <a:endParaRPr lang="en-US" sz="1000" dirty="0"/>
          </a:p>
        </p:txBody>
      </p:sp>
      <p:graphicFrame>
        <p:nvGraphicFramePr>
          <p:cNvPr id="46" name="Chart 1" descr=""/>
          <p:cNvGraphicFramePr/>
          <p:nvPr/>
        </p:nvGraphicFramePr>
        <p:xfrm>
          <a:off x="5806440" y="2788920"/>
          <a:ext cx="30632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0"/>
            <a:ext cx="54864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3716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0078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clarifies Energiewende's measurable impact on the energy mix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88336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97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72491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daily data enables targeted research studies (post-2011, seasonal)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712464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0390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749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narrative moments: policy effects, record spikes, and seasonal anomalies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166360" y="365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166360" y="566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Road-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5166360" y="1481328"/>
            <a:ext cx="13716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166360" y="1664208"/>
            <a:ext cx="3657600" cy="713232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212080" y="1737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687568" y="1773936"/>
            <a:ext cx="36576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779008" y="17556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dataset beyond 2017 to capture more recent transition data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66360" y="2487168"/>
            <a:ext cx="3657600" cy="713232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12080" y="2560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5687568" y="2596896"/>
            <a:ext cx="365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779008" y="257860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energy storage &amp; cross-border imports/exports to the model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166360" y="3310128"/>
            <a:ext cx="3657600" cy="713232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212080" y="3383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5687568" y="3419856"/>
            <a:ext cx="36576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779008" y="34015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reproducible dashboard on a public hosting platform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166360" y="4133088"/>
            <a:ext cx="3657600" cy="713232"/>
          </a:xfrm>
          <a:prstGeom prst="rect">
            <a:avLst/>
          </a:prstGeom>
          <a:solidFill>
            <a:srgbClr val="13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212080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5687568" y="4242816"/>
            <a:ext cx="36576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779008" y="422452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CO₂ displacement metrics to quantify climate impact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57200" y="4498848"/>
            <a:ext cx="4297680" cy="45720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7200" y="44988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DS-018 / 2025  •  Emaan Ayesha Bin Te Anwer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Germany Energy Transition – Energiewende</dc:title>
  <dc:subject>PptxGenJS Presentation</dc:subject>
  <dc:creator>Emaan Ayesha Bin Te Anwer</dc:creator>
  <cp:lastModifiedBy>Emaan Ayesha Bin Te Anwer</cp:lastModifiedBy>
  <cp:revision>1</cp:revision>
  <dcterms:created xsi:type="dcterms:W3CDTF">2026-05-16T10:09:03Z</dcterms:created>
  <dcterms:modified xsi:type="dcterms:W3CDTF">2026-05-16T10:09:03Z</dcterms:modified>
</cp:coreProperties>
</file>